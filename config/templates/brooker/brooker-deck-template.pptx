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comments/comment2.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7" r:id="rId3"/>
    <p:sldId id="269" r:id="rId4"/>
    <p:sldId id="281" r:id="rId5"/>
    <p:sldId id="270" r:id="rId6"/>
    <p:sldId id="271" r:id="rId7"/>
    <p:sldId id="272" r:id="rId8"/>
    <p:sldId id="273" r:id="rId9"/>
    <p:sldId id="278" r:id="rId10"/>
    <p:sldId id="279" r:id="rId11"/>
    <p:sldId id="282" r:id="rId12"/>
    <p:sldId id="259" r:id="rId13"/>
    <p:sldId id="280" r:id="rId14"/>
    <p:sldId id="266" r:id="rId15"/>
    <p:sldId id="276" r:id="rId16"/>
    <p:sldId id="275" r:id="rId17"/>
    <p:sldId id="260" r:id="rId18"/>
    <p:sldId id="264" r:id="rId19"/>
    <p:sldId id="274"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ker &amp; McKenzie" initials="BM" lastIdx="10" clrIdx="0">
    <p:extLst>
      <p:ext uri="{19B8F6BF-5375-455C-9EA6-DF929625EA0E}">
        <p15:presenceInfo xmlns:p15="http://schemas.microsoft.com/office/powerpoint/2012/main" userId="Baker &amp; McKenzi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62045" autoAdjust="0"/>
  </p:normalViewPr>
  <p:slideViewPr>
    <p:cSldViewPr>
      <p:cViewPr varScale="1">
        <p:scale>
          <a:sx n="93" d="100"/>
          <a:sy n="93" d="100"/>
        </p:scale>
        <p:origin x="219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1-24T17:26:59.036" idx="9">
    <p:pos x="4391" y="1412"/>
    <p:text>[BM: ประกาศคณะกรรมการกำกับหลักทรัพย์และตลาดหลักทรัพย์ ที่ กธ. 35/2563 เรื่อง หลักเกณฑ์ เงื่อนไข และวิธีการในการมอบหมายให้บุคคลอื่นเป็นผู้รับดำเนินการในงานที่เกี่ยวข้องกับการประกอบธุรกิจสินทรัพย์ดิจิทัล กำหนดว่า ผู้ประกอบธุรกิจต้องกำหนดนโยบาย มาตรการ และวิธีปฏิบัติในการมอบหมายให้บุคคลอื่นเป็นผู้รับดำเนินการในงานที่เกี่ยวข้องกับการประกอบธุรกิจสินทรัพย์ดิจิทัลตามหลักเกณฑ์ดังต่อไปนี้  ทั้งนี้ ผู้ประกอบธุรกิจต้องปฏิบัติและดูแลให้บุคลากรของตนปฏิบัติตามหลักเกณฑ์ดังกล่าวด้วย
(1) กำหนดนโยบายในเรื่องดังกล่าวเป็นลายลักษณ์อักษร ซึ่งได้รับความเห็นชอบจากคณะกรรมการของผู้ประกอบธุรกิจ โดยนโยบายดังกล่าวต้องมีรายละเอียดอย่างน้อยตามที่กำหนดในข้อ 8  พร้อมทั้งต้องมีการพิจารณาทบทวนความมีประสิทธิภาพและความเหมาะสมอย่างน้อยปีละ 1 ครั้ง หรือในทันทีเมื่อมีเหตุการณ์ใด ๆ ที่อาจส่งผลกระทบต่อการประกอบธุรกิจอย่างมีนัยสำคัญ  
(2) กำหนดมาตรการรองรับที่ทำให้สามารถประกอบธุรกิจได้อย่างต่อเนื่อง ในกรณีที่ผู้รับดำเนินการไม่สามารถดำเนินงานต่อไปได้
(3) กำหนดมาตรการป้องกันความขัดแย้งทางผลประโยชน์ที่เกี่ยวข้องกับการมอบหมายให้บุคคลอื่นเป็นผู้รับดำเนินการในงานที่เกี่ยวข้องกับการประกอบธุรกิจสินทรัพย์ดิจิทัล
(4) กำหนดมาตรการตรวจสอบดูแลให้ผู้รับดำเนินการปฏิบัติตามหลักเกณฑ์การปฏิบัติงานที่คณะกรรมการ ก.ล.ต. หรือสำนักงาน ก.ล.ต.  กำหนดเกี่ยวกับงานที่รับดำเนินการ  รวมทั้งระเบียบวิธีปฏิบัติที่ผู้ประกอบธุรกิจกำหนดขึ้นเพื่อให้เป็นไปตามหลักเกณฑ์ดังกล่าว โดยอย่างน้อยต้องสามารถควบคุมให้ผู้รับดำเนินการไม่มีลักษณะที่จะทำให้มีเหตุอันควรเชื่อได้ว่ามีข้อบกพร่องหรือมีความไม่เหมาะสมเกี่ยวกับการควบคุมและการปฏิบัติงานอันดีของธุรกิจ 
(5) จัดให้มีทรัพยากรที่จำเป็นและบุคลากรที่มีความเชี่ยวชาญในจำนวนที่เพียงพอ เพื่อให้สามารถควบคุมดูแลการดำเนินงานของผู้รับดำเนินการและบริหารความเสี่ยงได้อย่างมีประสิทธิภาพ
(6) พิจารณาคัดเลือกผู้รับดำเนินการด้วยความรอบคอบและระมัดระวังเยี่ยงผู้ประกอบวิชาชีพ]</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9-06T21:15:09.397" idx="7">
    <p:pos x="4245" y="1735"/>
    <p:text>[BM: Under the SEC Notification KorTor. 19/2561, the digital asset custodian must have the following qualifications: 
(1)	under the supervision of  the regulatory authority in the country where the enterprise is located;
(2)	having the expertise, experience, readiness, and recognition in digital asset custodian services;
(3)	having work systems and measures to prevent conflicts of interest in place;
(4)	implementing effective cybersecurity measures;
(5)	segregating each user’s digital assets from the digital asset custodian service’s assets;
(6)	having a balance system or control measures for digital asset transfers, whereby the minimum requirement for such transfer is that two or more persons shall jointly confirm the transaction and they shall not be related to each other in any way, including by collecting or requesting for evidence to confirm the transaction from the digital asset transferor when the digital asset transaction is of a significant size;
(7)	having systems that support users in setting out conditions for transferring digital assets regarding transaction sizes, or limiting transaction volume at any time in accordance with their wishes;
(8)	there being no reasonable cause to believe that the digital asset custodian has a financial position that may lead to damages, nor any other circumstances showing that the custodian is experiencing financial problems;
(9)	there being no circumstances that show a lack of good corporate governance; and
(10)	there being no reasonable cause to believe that a director or executive has a history of legal punishment, or having been, having been accused of, or  proceeding for deceit, fraud or corruption with regard to property.</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BBA053-987E-461B-9EBF-BA51F0ECD2AC}" type="datetimeFigureOut">
              <a:rPr lang="en-US" smtClean="0"/>
              <a:t>12/14/2021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2AF1F-A111-408A-8859-B2C757BB1D54}" type="slidenum">
              <a:rPr lang="en-US" smtClean="0"/>
              <a:t>‹#›</a:t>
            </a:fld>
            <a:endParaRPr lang="en-US"/>
          </a:p>
        </p:txBody>
      </p:sp>
    </p:spTree>
    <p:extLst>
      <p:ext uri="{BB962C8B-B14F-4D97-AF65-F5344CB8AC3E}">
        <p14:creationId xmlns:p14="http://schemas.microsoft.com/office/powerpoint/2010/main" val="312298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a:t>
            </a:fld>
            <a:endParaRPr lang="en-US"/>
          </a:p>
        </p:txBody>
      </p:sp>
    </p:spTree>
    <p:extLst>
      <p:ext uri="{BB962C8B-B14F-4D97-AF65-F5344CB8AC3E}">
        <p14:creationId xmlns:p14="http://schemas.microsoft.com/office/powerpoint/2010/main" val="356759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[BM:</a:t>
            </a:r>
            <a:r>
              <a:rPr lang="en-US" baseline="0" dirty="0"/>
              <a:t> Please add the relevant details. </a:t>
            </a:r>
            <a:r>
              <a:rPr lang="en-US" dirty="0"/>
              <a:t>]</a:t>
            </a:r>
          </a:p>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5</a:t>
            </a:fld>
            <a:endParaRPr lang="en-US"/>
          </a:p>
        </p:txBody>
      </p:sp>
    </p:spTree>
    <p:extLst>
      <p:ext uri="{BB962C8B-B14F-4D97-AF65-F5344CB8AC3E}">
        <p14:creationId xmlns:p14="http://schemas.microsoft.com/office/powerpoint/2010/main" val="2906844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 Please also consider providing the information of the directors for entirety purposes. Please note that the SEC will require the company to prepare the qualifications of the directors, persons with management power and major shareholders. It would be good to provide and prepare information on their experience within the investment, financial, or technology industry. Kindly note that the SEC prohibits a person being a director, persons with management power, and major shareholders of one digital asset business company to also be in another digital asset business company. This is to avoid conflict of interest.</a:t>
            </a:r>
          </a:p>
          <a:p>
            <a:endParaRPr lang="en-US" dirty="0"/>
          </a:p>
          <a:p>
            <a:r>
              <a:rPr lang="en-US" dirty="0"/>
              <a:t>The directors and management would also need to have qualifications of the following: </a:t>
            </a:r>
          </a:p>
          <a:p>
            <a:endParaRPr lang="en-US" dirty="0"/>
          </a:p>
          <a:p>
            <a:r>
              <a:rPr lang="en-US" dirty="0"/>
              <a:t>- </a:t>
            </a:r>
            <a:r>
              <a:rPr lang="th-TH" dirty="0"/>
              <a:t>หากสำเร็จการศึกษาระดับปริญญาตรีหรือเทียบเท่าที่สำนักงานคณะกรรมการข้าราชการพลเรือน (ก.พ.) รับรองจะต้องมีประสบการณ์การทำงานที่เกี่ยวข้องไม่น้อยกว่า 3 ปี หรือ หากสำเร็จการศึกษาตำกว่าระดับปริญญาตรี จะต้องมีประสบการณ์การทำงานที่เกี่ยวข้องไม่น้อยกว่า 5 ปี </a:t>
            </a:r>
          </a:p>
          <a:p>
            <a:endParaRPr lang="th-TH" dirty="0"/>
          </a:p>
          <a:p>
            <a:r>
              <a:rPr lang="th-TH" dirty="0"/>
              <a:t>- ไม่มีลักษณะต้องห้ามตามประกาศคณะกรรมการกำกับหลักทรัพย์และตลาดหลักทรัพย์]</a:t>
            </a:r>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8</a:t>
            </a:fld>
            <a:endParaRPr lang="en-US"/>
          </a:p>
        </p:txBody>
      </p:sp>
    </p:spTree>
    <p:extLst>
      <p:ext uri="{BB962C8B-B14F-4D97-AF65-F5344CB8AC3E}">
        <p14:creationId xmlns:p14="http://schemas.microsoft.com/office/powerpoint/2010/main" val="2456410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9</a:t>
            </a:fld>
            <a:endParaRPr lang="en-US"/>
          </a:p>
        </p:txBody>
      </p:sp>
    </p:spTree>
    <p:extLst>
      <p:ext uri="{BB962C8B-B14F-4D97-AF65-F5344CB8AC3E}">
        <p14:creationId xmlns:p14="http://schemas.microsoft.com/office/powerpoint/2010/main" val="247323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[BM:</a:t>
            </a:r>
            <a:r>
              <a:rPr lang="en-US" baseline="0" dirty="0"/>
              <a:t> Please add the relevant details.</a:t>
            </a:r>
            <a:r>
              <a:rPr lang="en-US" dirty="0"/>
              <a:t>]</a:t>
            </a:r>
          </a:p>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10</a:t>
            </a:fld>
            <a:endParaRPr lang="en-US"/>
          </a:p>
        </p:txBody>
      </p:sp>
    </p:spTree>
    <p:extLst>
      <p:ext uri="{BB962C8B-B14F-4D97-AF65-F5344CB8AC3E}">
        <p14:creationId xmlns:p14="http://schemas.microsoft.com/office/powerpoint/2010/main" val="938060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 This is an important</a:t>
            </a:r>
            <a:r>
              <a:rPr lang="en-US" baseline="0" dirty="0"/>
              <a:t> part where the SEC will be able to have a great understanding on the business operator’s business.</a:t>
            </a:r>
            <a:r>
              <a:rPr lang="en-US" dirty="0"/>
              <a:t>]</a:t>
            </a:r>
          </a:p>
        </p:txBody>
      </p:sp>
      <p:sp>
        <p:nvSpPr>
          <p:cNvPr id="4" name="Slide Number Placeholder 3"/>
          <p:cNvSpPr>
            <a:spLocks noGrp="1"/>
          </p:cNvSpPr>
          <p:nvPr>
            <p:ph type="sldNum" sz="quarter" idx="10"/>
          </p:nvPr>
        </p:nvSpPr>
        <p:spPr/>
        <p:txBody>
          <a:bodyPr/>
          <a:lstStyle/>
          <a:p>
            <a:fld id="{3662AF1F-A111-408A-8859-B2C757BB1D54}" type="slidenum">
              <a:rPr lang="en-US" smtClean="0"/>
              <a:t>12</a:t>
            </a:fld>
            <a:endParaRPr lang="en-US"/>
          </a:p>
        </p:txBody>
      </p:sp>
    </p:spTree>
    <p:extLst>
      <p:ext uri="{BB962C8B-B14F-4D97-AF65-F5344CB8AC3E}">
        <p14:creationId xmlns:p14="http://schemas.microsoft.com/office/powerpoint/2010/main" val="3185441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[BM: This is an important</a:t>
            </a:r>
            <a:r>
              <a:rPr lang="en-US" baseline="0" dirty="0"/>
              <a:t> part where the SEC will be able to have a great understanding on the business operator’s business.</a:t>
            </a:r>
            <a:r>
              <a:rPr lang="en-US" dirty="0"/>
              <a:t>]</a:t>
            </a:r>
          </a:p>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14</a:t>
            </a:fld>
            <a:endParaRPr lang="en-US"/>
          </a:p>
        </p:txBody>
      </p:sp>
    </p:spTree>
    <p:extLst>
      <p:ext uri="{BB962C8B-B14F-4D97-AF65-F5344CB8AC3E}">
        <p14:creationId xmlns:p14="http://schemas.microsoft.com/office/powerpoint/2010/main" val="1536434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15</a:t>
            </a:fld>
            <a:endParaRPr lang="en-US"/>
          </a:p>
        </p:txBody>
      </p:sp>
    </p:spTree>
    <p:extLst>
      <p:ext uri="{BB962C8B-B14F-4D97-AF65-F5344CB8AC3E}">
        <p14:creationId xmlns:p14="http://schemas.microsoft.com/office/powerpoint/2010/main" val="470066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16</a:t>
            </a:fld>
            <a:endParaRPr lang="en-US"/>
          </a:p>
        </p:txBody>
      </p:sp>
    </p:spTree>
    <p:extLst>
      <p:ext uri="{BB962C8B-B14F-4D97-AF65-F5344CB8AC3E}">
        <p14:creationId xmlns:p14="http://schemas.microsoft.com/office/powerpoint/2010/main" val="2705634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[BM:</a:t>
            </a:r>
            <a:r>
              <a:rPr lang="en-US" baseline="0" dirty="0"/>
              <a:t> Please add the relevant details.</a:t>
            </a:r>
            <a:r>
              <a:rPr lang="en-US" dirty="0"/>
              <a:t>]</a:t>
            </a:r>
          </a:p>
          <a:p>
            <a:endParaRPr lang="en-US" dirty="0"/>
          </a:p>
        </p:txBody>
      </p:sp>
      <p:sp>
        <p:nvSpPr>
          <p:cNvPr id="4" name="Slide Number Placeholder 3"/>
          <p:cNvSpPr>
            <a:spLocks noGrp="1"/>
          </p:cNvSpPr>
          <p:nvPr>
            <p:ph type="sldNum" sz="quarter" idx="10"/>
          </p:nvPr>
        </p:nvSpPr>
        <p:spPr/>
        <p:txBody>
          <a:bodyPr/>
          <a:lstStyle/>
          <a:p>
            <a:fld id="{3662AF1F-A111-408A-8859-B2C757BB1D54}" type="slidenum">
              <a:rPr lang="en-US" smtClean="0"/>
              <a:t>17</a:t>
            </a:fld>
            <a:endParaRPr lang="en-US"/>
          </a:p>
        </p:txBody>
      </p:sp>
    </p:spTree>
    <p:extLst>
      <p:ext uri="{BB962C8B-B14F-4D97-AF65-F5344CB8AC3E}">
        <p14:creationId xmlns:p14="http://schemas.microsoft.com/office/powerpoint/2010/main" val="1616703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t>
            </a:r>
            <a:r>
              <a:rPr lang="en-US" baseline="0" dirty="0"/>
              <a:t> Please add the relevant details.</a:t>
            </a:r>
            <a:r>
              <a:rPr lang="en-US" dirty="0"/>
              <a:t>]</a:t>
            </a:r>
          </a:p>
        </p:txBody>
      </p:sp>
      <p:sp>
        <p:nvSpPr>
          <p:cNvPr id="4" name="Slide Number Placeholder 3"/>
          <p:cNvSpPr>
            <a:spLocks noGrp="1"/>
          </p:cNvSpPr>
          <p:nvPr>
            <p:ph type="sldNum" sz="quarter" idx="10"/>
          </p:nvPr>
        </p:nvSpPr>
        <p:spPr/>
        <p:txBody>
          <a:bodyPr/>
          <a:lstStyle/>
          <a:p>
            <a:fld id="{3662AF1F-A111-408A-8859-B2C757BB1D54}" type="slidenum">
              <a:rPr lang="en-US" smtClean="0"/>
              <a:t>18</a:t>
            </a:fld>
            <a:endParaRPr lang="en-US"/>
          </a:p>
        </p:txBody>
      </p:sp>
    </p:spTree>
    <p:extLst>
      <p:ext uri="{BB962C8B-B14F-4D97-AF65-F5344CB8AC3E}">
        <p14:creationId xmlns:p14="http://schemas.microsoft.com/office/powerpoint/2010/main" val="3693827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AU"/>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accent6"/>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61C49EA2-226E-4E50-8B48-6A874A1DEC2F}" type="datetimeFigureOut">
              <a:rPr lang="en-AU" smtClean="0"/>
              <a:t>14/12/2021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2530002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AU"/>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solidFill>
                  <a:schemeClr val="tx1"/>
                </a:solidFill>
              </a:defRPr>
            </a:lvl1pPr>
          </a:lstStyle>
          <a:p>
            <a:fld id="{61C49EA2-226E-4E50-8B48-6A874A1DEC2F}" type="datetimeFigureOut">
              <a:rPr lang="en-AU" smtClean="0"/>
              <a:pPr/>
              <a:t>14/12/2021</a:t>
            </a:fld>
            <a:endParaRPr lang="en-AU"/>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1408131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solidFill>
                  <a:schemeClr val="tx1"/>
                </a:solidFill>
              </a:defRPr>
            </a:lvl1pPr>
          </a:lstStyle>
          <a:p>
            <a:r>
              <a:rPr lang="en-US"/>
              <a:t>Click to edit Master title style</a:t>
            </a:r>
            <a:endParaRPr lang="en-AU"/>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accent6"/>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61C49EA2-226E-4E50-8B48-6A874A1DEC2F}" type="datetimeFigureOut">
              <a:rPr lang="en-AU" smtClean="0"/>
              <a:pPr/>
              <a:t>14/12/2021</a:t>
            </a:fld>
            <a:endParaRPr lang="en-AU"/>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3562523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AU"/>
          </a:p>
        </p:txBody>
      </p:sp>
      <p:sp>
        <p:nvSpPr>
          <p:cNvPr id="3" name="Content Placeholder 2"/>
          <p:cNvSpPr>
            <a:spLocks noGrp="1"/>
          </p:cNvSpPr>
          <p:nvPr>
            <p:ph sz="half" idx="1"/>
          </p:nvPr>
        </p:nvSpPr>
        <p:spPr>
          <a:xfrm>
            <a:off x="457200" y="1200151"/>
            <a:ext cx="4038600" cy="3394472"/>
          </a:xfrm>
        </p:spPr>
        <p:txBody>
          <a:bodyPr/>
          <a:lstStyle>
            <a:lvl1pPr>
              <a:defRPr sz="2100">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00151"/>
            <a:ext cx="4038600" cy="3394472"/>
          </a:xfrm>
        </p:spPr>
        <p:txBody>
          <a:bodyPr/>
          <a:lstStyle>
            <a:lvl1pPr>
              <a:defRPr sz="2100">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solidFill>
                  <a:schemeClr val="tx1"/>
                </a:solidFill>
              </a:defRPr>
            </a:lvl1pPr>
          </a:lstStyle>
          <a:p>
            <a:fld id="{61C49EA2-226E-4E50-8B48-6A874A1DEC2F}" type="datetimeFigureOut">
              <a:rPr lang="en-AU" smtClean="0"/>
              <a:pPr/>
              <a:t>14/12/2021</a:t>
            </a:fld>
            <a:endParaRPr lang="en-AU"/>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273697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AU"/>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solidFill>
                  <a:schemeClr val="tx1"/>
                </a:solidFill>
              </a:defRPr>
            </a:lvl1pPr>
          </a:lstStyle>
          <a:p>
            <a:fld id="{61C49EA2-226E-4E50-8B48-6A874A1DEC2F}" type="datetimeFigureOut">
              <a:rPr lang="en-AU" smtClean="0"/>
              <a:pPr/>
              <a:t>14/12/2021</a:t>
            </a:fld>
            <a:endParaRPr lang="en-AU"/>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AU"/>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293041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solidFill>
                  <a:schemeClr val="tx1"/>
                </a:solidFill>
              </a:defRPr>
            </a:lvl1pPr>
          </a:lstStyle>
          <a:p>
            <a:fld id="{61C49EA2-226E-4E50-8B48-6A874A1DEC2F}" type="datetimeFigureOut">
              <a:rPr lang="en-AU" smtClean="0"/>
              <a:pPr/>
              <a:t>14/12/2021</a:t>
            </a:fld>
            <a:endParaRPr lang="en-AU"/>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AU"/>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203070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C49EA2-226E-4E50-8B48-6A874A1DEC2F}" type="datetimeFigureOut">
              <a:rPr lang="en-AU" smtClean="0"/>
              <a:t>14/12/2021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935081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endParaRPr lang="en-AU"/>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1C49EA2-226E-4E50-8B48-6A874A1DEC2F}" type="datetimeFigureOut">
              <a:rPr lang="en-AU" smtClean="0"/>
              <a:t>14/12/2021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1094124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endParaRPr lang="en-AU"/>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1C49EA2-226E-4E50-8B48-6A874A1DEC2F}" type="datetimeFigureOut">
              <a:rPr lang="en-AU" smtClean="0"/>
              <a:t>14/12/2021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161285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61C49EA2-226E-4E50-8B48-6A874A1DEC2F}" type="datetimeFigureOut">
              <a:rPr lang="en-AU" smtClean="0"/>
              <a:t>14/12/2021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3482225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61C49EA2-226E-4E50-8B48-6A874A1DEC2F}" type="datetimeFigureOut">
              <a:rPr lang="en-AU" smtClean="0"/>
              <a:t>14/12/2021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511D280-0087-4025-85DC-7A4BA4039648}" type="slidenum">
              <a:rPr lang="en-AU" smtClean="0"/>
              <a:t>‹#›</a:t>
            </a:fld>
            <a:endParaRPr lang="en-AU"/>
          </a:p>
        </p:txBody>
      </p:sp>
    </p:spTree>
    <p:extLst>
      <p:ext uri="{BB962C8B-B14F-4D97-AF65-F5344CB8AC3E}">
        <p14:creationId xmlns:p14="http://schemas.microsoft.com/office/powerpoint/2010/main" val="2247973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solidFill>
              </a:defRPr>
            </a:lvl1pPr>
          </a:lstStyle>
          <a:p>
            <a:fld id="{61C49EA2-226E-4E50-8B48-6A874A1DEC2F}" type="datetimeFigureOut">
              <a:rPr lang="en-AU" smtClean="0"/>
              <a:pPr/>
              <a:t>14/12/2021</a:t>
            </a:fld>
            <a:endParaRPr lang="en-AU"/>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solidFill>
              </a:defRPr>
            </a:lvl1pPr>
          </a:lstStyle>
          <a:p>
            <a:endParaRPr lang="en-AU"/>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solidFill>
              </a:defRPr>
            </a:lvl1pPr>
          </a:lstStyle>
          <a:p>
            <a:fld id="{B511D280-0087-4025-85DC-7A4BA4039648}" type="slidenum">
              <a:rPr lang="en-AU" smtClean="0"/>
              <a:pPr/>
              <a:t>‹#›</a:t>
            </a:fld>
            <a:endParaRPr lang="en-AU"/>
          </a:p>
        </p:txBody>
      </p:sp>
    </p:spTree>
    <p:extLst>
      <p:ext uri="{BB962C8B-B14F-4D97-AF65-F5344CB8AC3E}">
        <p14:creationId xmlns:p14="http://schemas.microsoft.com/office/powerpoint/2010/main" val="811860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Clr>
          <a:schemeClr val="tx1"/>
        </a:buClr>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Clr>
          <a:schemeClr val="tx1"/>
        </a:buClr>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Clr>
          <a:schemeClr val="tx1"/>
        </a:buClr>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635646"/>
            <a:ext cx="7772400" cy="1102519"/>
          </a:xfrm>
        </p:spPr>
        <p:txBody>
          <a:bodyPr>
            <a:normAutofit fontScale="90000"/>
          </a:bodyPr>
          <a:lstStyle/>
          <a:p>
            <a:r>
              <a:rPr lang="en-US" b="1" dirty="0"/>
              <a:t>Business Plan for the digital asset brokerage business</a:t>
            </a:r>
            <a:br>
              <a:rPr lang="en-US" dirty="0"/>
            </a:br>
            <a:r>
              <a:rPr lang="en-US" sz="2700" dirty="0">
                <a:solidFill>
                  <a:srgbClr val="FF0000"/>
                </a:solidFill>
              </a:rPr>
              <a:t>Brooker Planner Co., Ltd.?</a:t>
            </a:r>
          </a:p>
        </p:txBody>
      </p:sp>
      <p:sp>
        <p:nvSpPr>
          <p:cNvPr id="3" name="Title 1"/>
          <p:cNvSpPr txBox="1">
            <a:spLocks/>
          </p:cNvSpPr>
          <p:nvPr/>
        </p:nvSpPr>
        <p:spPr>
          <a:xfrm>
            <a:off x="6955342" y="195486"/>
            <a:ext cx="2160240" cy="504056"/>
          </a:xfrm>
          <a:prstGeom prst="rect">
            <a:avLst/>
          </a:prstGeom>
        </p:spPr>
        <p:txBody>
          <a:bodyPr vert="horz" lIns="91440" tIns="45720" rIns="91440" bIns="45720" rtlCol="0" anchor="ctr">
            <a:normAutofit fontScale="90000" lnSpcReduction="2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1800" dirty="0"/>
              <a:t>[Please insert the company’s logo]</a:t>
            </a:r>
          </a:p>
        </p:txBody>
      </p:sp>
      <p:sp>
        <p:nvSpPr>
          <p:cNvPr id="4" name="Rectangle 3"/>
          <p:cNvSpPr/>
          <p:nvPr/>
        </p:nvSpPr>
        <p:spPr>
          <a:xfrm>
            <a:off x="6588224" y="4443958"/>
            <a:ext cx="2227784" cy="36004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Private &amp; Confidential</a:t>
            </a:r>
            <a:endParaRPr lang="en-US" sz="1200" baseline="0" dirty="0"/>
          </a:p>
        </p:txBody>
      </p:sp>
    </p:spTree>
    <p:extLst>
      <p:ext uri="{BB962C8B-B14F-4D97-AF65-F5344CB8AC3E}">
        <p14:creationId xmlns:p14="http://schemas.microsoft.com/office/powerpoint/2010/main" val="3237438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Agenda and objectives</a:t>
            </a:r>
          </a:p>
        </p:txBody>
      </p:sp>
      <p:sp>
        <p:nvSpPr>
          <p:cNvPr id="3" name="Content Placeholder 2"/>
          <p:cNvSpPr>
            <a:spLocks noGrp="1"/>
          </p:cNvSpPr>
          <p:nvPr>
            <p:ph idx="1"/>
          </p:nvPr>
        </p:nvSpPr>
        <p:spPr/>
        <p:txBody>
          <a:bodyPr/>
          <a:lstStyle/>
          <a:p>
            <a:pPr marL="457200" indent="-457200">
              <a:buFont typeface="+mj-lt"/>
              <a:buAutoNum type="arabicPeriod"/>
            </a:pPr>
            <a:r>
              <a:rPr lang="en-US" i="1" dirty="0">
                <a:solidFill>
                  <a:srgbClr val="FF0000"/>
                </a:solidFill>
              </a:rPr>
              <a:t>Company Profile</a:t>
            </a:r>
          </a:p>
          <a:p>
            <a:pPr marL="457200" indent="-457200">
              <a:buFont typeface="+mj-lt"/>
              <a:buAutoNum type="arabicPeriod"/>
            </a:pPr>
            <a:r>
              <a:rPr lang="en-US" i="1" dirty="0">
                <a:solidFill>
                  <a:srgbClr val="FF0000"/>
                </a:solidFill>
              </a:rPr>
              <a:t>Business Plan</a:t>
            </a:r>
          </a:p>
          <a:p>
            <a:pPr marL="457200" indent="-457200">
              <a:buFont typeface="+mj-lt"/>
              <a:buAutoNum type="arabicPeriod"/>
            </a:pPr>
            <a:r>
              <a:rPr lang="en-US" i="1" dirty="0">
                <a:solidFill>
                  <a:srgbClr val="FF0000"/>
                </a:solidFill>
              </a:rPr>
              <a:t>Business Operation and Policies</a:t>
            </a:r>
          </a:p>
          <a:p>
            <a:pPr marL="457200" indent="-457200">
              <a:buFont typeface="+mj-lt"/>
              <a:buAutoNum type="arabicPeriod"/>
            </a:pPr>
            <a:endParaRPr lang="en-US" dirty="0"/>
          </a:p>
        </p:txBody>
      </p:sp>
    </p:spTree>
    <p:extLst>
      <p:ext uri="{BB962C8B-B14F-4D97-AF65-F5344CB8AC3E}">
        <p14:creationId xmlns:p14="http://schemas.microsoft.com/office/powerpoint/2010/main" val="3759057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2139702"/>
            <a:ext cx="8229600" cy="857250"/>
          </a:xfrm>
        </p:spPr>
        <p:txBody>
          <a:bodyPr/>
          <a:lstStyle/>
          <a:p>
            <a:r>
              <a:rPr lang="en-AU" b="1" dirty="0"/>
              <a:t>1. Overview of the company profile </a:t>
            </a:r>
            <a:endParaRPr lang="en-US" b="1" dirty="0"/>
          </a:p>
        </p:txBody>
      </p:sp>
    </p:spTree>
    <p:extLst>
      <p:ext uri="{BB962C8B-B14F-4D97-AF65-F5344CB8AC3E}">
        <p14:creationId xmlns:p14="http://schemas.microsoft.com/office/powerpoint/2010/main" val="714474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6BD4C1-9D92-4CBC-A9C0-A3AA7FEAB943}"/>
              </a:ext>
            </a:extLst>
          </p:cNvPr>
          <p:cNvPicPr>
            <a:picLocks noChangeAspect="1"/>
          </p:cNvPicPr>
          <p:nvPr/>
        </p:nvPicPr>
        <p:blipFill rotWithShape="1">
          <a:blip r:embed="rId2"/>
          <a:srcRect l="54399" t="31930" r="10183" b="30662"/>
          <a:stretch/>
        </p:blipFill>
        <p:spPr>
          <a:xfrm>
            <a:off x="4803079" y="2067694"/>
            <a:ext cx="3883721" cy="2307056"/>
          </a:xfrm>
          <a:prstGeom prst="rect">
            <a:avLst/>
          </a:prstGeom>
        </p:spPr>
      </p:pic>
      <p:pic>
        <p:nvPicPr>
          <p:cNvPr id="4" name="Picture 3">
            <a:extLst>
              <a:ext uri="{FF2B5EF4-FFF2-40B4-BE49-F238E27FC236}">
                <a16:creationId xmlns:a16="http://schemas.microsoft.com/office/drawing/2014/main" id="{6AE7A1AA-0CDF-42CB-9596-568147FB1E79}"/>
              </a:ext>
            </a:extLst>
          </p:cNvPr>
          <p:cNvPicPr>
            <a:picLocks noChangeAspect="1"/>
          </p:cNvPicPr>
          <p:nvPr/>
        </p:nvPicPr>
        <p:blipFill rotWithShape="1">
          <a:blip r:embed="rId2"/>
          <a:srcRect l="9707" t="7354" r="36356" b="18666"/>
          <a:stretch/>
        </p:blipFill>
        <p:spPr>
          <a:xfrm>
            <a:off x="251520" y="208656"/>
            <a:ext cx="5587027" cy="4310082"/>
          </a:xfrm>
          <a:prstGeom prst="rect">
            <a:avLst/>
          </a:prstGeom>
        </p:spPr>
      </p:pic>
    </p:spTree>
    <p:extLst>
      <p:ext uri="{BB962C8B-B14F-4D97-AF65-F5344CB8AC3E}">
        <p14:creationId xmlns:p14="http://schemas.microsoft.com/office/powerpoint/2010/main" val="1864454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AU" b="1" dirty="0"/>
              <a:t>Introduction</a:t>
            </a:r>
            <a:endParaRPr lang="en-US" b="1" dirty="0"/>
          </a:p>
        </p:txBody>
      </p:sp>
      <p:sp>
        <p:nvSpPr>
          <p:cNvPr id="3" name="Content Placeholder 2"/>
          <p:cNvSpPr>
            <a:spLocks noGrp="1"/>
          </p:cNvSpPr>
          <p:nvPr>
            <p:ph idx="1"/>
          </p:nvPr>
        </p:nvSpPr>
        <p:spPr/>
        <p:txBody>
          <a:bodyPr>
            <a:normAutofit/>
          </a:bodyPr>
          <a:lstStyle/>
          <a:p>
            <a:pPr lvl="1"/>
            <a:r>
              <a:rPr lang="en-AU" sz="1500" dirty="0">
                <a:solidFill>
                  <a:srgbClr val="FF0000"/>
                </a:solidFill>
              </a:rPr>
              <a:t>In 2021, Brooker Group made a strategic direction towards digital assets and invested 1.2 billion baht in digital currencies and tokens. </a:t>
            </a:r>
          </a:p>
          <a:p>
            <a:pPr lvl="1"/>
            <a:r>
              <a:rPr lang="en-AU" sz="1500" dirty="0">
                <a:solidFill>
                  <a:srgbClr val="FF0000"/>
                </a:solidFill>
              </a:rPr>
              <a:t>For 2022, the company would like to build new business models involving digital assets. As a result, the company has setup a 100% owned subsidiary  Brooker Planner Co., Ltd. to apply for Brokerage License.</a:t>
            </a:r>
          </a:p>
          <a:p>
            <a:r>
              <a:rPr lang="en-AU" b="1" dirty="0"/>
              <a:t>Vision and strategy </a:t>
            </a:r>
          </a:p>
          <a:p>
            <a:pPr lvl="1"/>
            <a:r>
              <a:rPr lang="en-AU" sz="1400" i="1" dirty="0">
                <a:solidFill>
                  <a:srgbClr val="FF0000"/>
                </a:solidFill>
              </a:rPr>
              <a:t>To provide the best technology infrastructure to help customers access opportunities in global markets.</a:t>
            </a:r>
          </a:p>
          <a:p>
            <a:pPr lvl="1"/>
            <a:r>
              <a:rPr lang="en-AU" sz="1400" i="1" dirty="0">
                <a:solidFill>
                  <a:srgbClr val="FF0000"/>
                </a:solidFill>
              </a:rPr>
              <a:t>To provide liquidity for customers to construct their desired investment portfolio and risk appetite. </a:t>
            </a:r>
          </a:p>
        </p:txBody>
      </p:sp>
    </p:spTree>
    <p:extLst>
      <p:ext uri="{BB962C8B-B14F-4D97-AF65-F5344CB8AC3E}">
        <p14:creationId xmlns:p14="http://schemas.microsoft.com/office/powerpoint/2010/main" val="417139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a:t>Shareholding structure </a:t>
            </a:r>
          </a:p>
        </p:txBody>
      </p:sp>
      <p:sp>
        <p:nvSpPr>
          <p:cNvPr id="3" name="Content Placeholder 2"/>
          <p:cNvSpPr>
            <a:spLocks noGrp="1"/>
          </p:cNvSpPr>
          <p:nvPr>
            <p:ph idx="1"/>
          </p:nvPr>
        </p:nvSpPr>
        <p:spPr>
          <a:xfrm>
            <a:off x="457200" y="1200151"/>
            <a:ext cx="3394720" cy="3394472"/>
          </a:xfrm>
        </p:spPr>
        <p:txBody>
          <a:bodyPr/>
          <a:lstStyle/>
          <a:p>
            <a:pPr marL="0" indent="0">
              <a:buNone/>
            </a:pPr>
            <a:r>
              <a:rPr lang="en-US" i="1" dirty="0">
                <a:solidFill>
                  <a:srgbClr val="FF0000"/>
                </a:solidFill>
              </a:rPr>
              <a:t>100% owned by BROOK</a:t>
            </a:r>
          </a:p>
        </p:txBody>
      </p:sp>
      <p:pic>
        <p:nvPicPr>
          <p:cNvPr id="5" name="Picture 4">
            <a:extLst>
              <a:ext uri="{FF2B5EF4-FFF2-40B4-BE49-F238E27FC236}">
                <a16:creationId xmlns:a16="http://schemas.microsoft.com/office/drawing/2014/main" id="{DA7A3D3F-124D-4005-A5D2-CCF30A375AEF}"/>
              </a:ext>
            </a:extLst>
          </p:cNvPr>
          <p:cNvPicPr>
            <a:picLocks noChangeAspect="1"/>
          </p:cNvPicPr>
          <p:nvPr/>
        </p:nvPicPr>
        <p:blipFill>
          <a:blip r:embed="rId2"/>
          <a:stretch>
            <a:fillRect/>
          </a:stretch>
        </p:blipFill>
        <p:spPr>
          <a:xfrm>
            <a:off x="3995936" y="865341"/>
            <a:ext cx="5054902" cy="4278159"/>
          </a:xfrm>
          <a:prstGeom prst="rect">
            <a:avLst/>
          </a:prstGeom>
        </p:spPr>
      </p:pic>
    </p:spTree>
    <p:extLst>
      <p:ext uri="{BB962C8B-B14F-4D97-AF65-F5344CB8AC3E}">
        <p14:creationId xmlns:p14="http://schemas.microsoft.com/office/powerpoint/2010/main" val="3421449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Organizational structure</a:t>
            </a:r>
          </a:p>
        </p:txBody>
      </p:sp>
      <p:sp>
        <p:nvSpPr>
          <p:cNvPr id="3" name="Content Placeholder 2"/>
          <p:cNvSpPr>
            <a:spLocks noGrp="1"/>
          </p:cNvSpPr>
          <p:nvPr>
            <p:ph idx="1"/>
          </p:nvPr>
        </p:nvSpPr>
        <p:spPr/>
        <p:txBody>
          <a:bodyPr/>
          <a:lstStyle/>
          <a:p>
            <a:r>
              <a:rPr lang="en-US" i="1" dirty="0">
                <a:solidFill>
                  <a:srgbClr val="FF0000"/>
                </a:solidFill>
              </a:rPr>
              <a:t>[Please add the intended organizational structure chart of the entity that would be operating the digital asset business.]</a:t>
            </a:r>
          </a:p>
          <a:p>
            <a:endParaRPr lang="en-US" dirty="0"/>
          </a:p>
        </p:txBody>
      </p:sp>
    </p:spTree>
    <p:extLst>
      <p:ext uri="{BB962C8B-B14F-4D97-AF65-F5344CB8AC3E}">
        <p14:creationId xmlns:p14="http://schemas.microsoft.com/office/powerpoint/2010/main" val="373120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AU" b="1" dirty="0"/>
              <a:t>Management/key officer’s work experience</a:t>
            </a:r>
            <a:endParaRPr lang="en-US" b="1" dirty="0"/>
          </a:p>
        </p:txBody>
      </p:sp>
      <p:sp>
        <p:nvSpPr>
          <p:cNvPr id="3" name="Content Placeholder 2"/>
          <p:cNvSpPr>
            <a:spLocks noGrp="1"/>
          </p:cNvSpPr>
          <p:nvPr>
            <p:ph idx="1"/>
          </p:nvPr>
        </p:nvSpPr>
        <p:spPr/>
        <p:txBody>
          <a:bodyPr/>
          <a:lstStyle/>
          <a:p>
            <a:pPr lvl="1"/>
            <a:r>
              <a:rPr lang="en-AU" sz="1500" dirty="0">
                <a:solidFill>
                  <a:srgbClr val="FF0000"/>
                </a:solidFill>
              </a:rPr>
              <a:t>[</a:t>
            </a:r>
            <a:r>
              <a:rPr lang="en-AU" sz="1500" i="1" dirty="0">
                <a:solidFill>
                  <a:srgbClr val="FF0000"/>
                </a:solidFill>
              </a:rPr>
              <a:t>The management personnel should have relevant work experience in the digital asset business industry, finance, capital market or IT business.</a:t>
            </a:r>
            <a:r>
              <a:rPr lang="en-AU" sz="1500" dirty="0">
                <a:solidFill>
                  <a:srgbClr val="FF0000"/>
                </a:solidFill>
              </a:rPr>
              <a:t>]</a:t>
            </a:r>
          </a:p>
          <a:p>
            <a:pPr lvl="1"/>
            <a:r>
              <a:rPr lang="en-AU" sz="1500" dirty="0">
                <a:solidFill>
                  <a:srgbClr val="FF0000"/>
                </a:solidFill>
              </a:rPr>
              <a:t>[</a:t>
            </a:r>
            <a:r>
              <a:rPr lang="en-AU" sz="1500" i="1" dirty="0">
                <a:solidFill>
                  <a:srgbClr val="FF0000"/>
                </a:solidFill>
              </a:rPr>
              <a:t>The head of compliance department must have at least 2 years of work experience.</a:t>
            </a:r>
            <a:r>
              <a:rPr lang="en-AU" sz="1500" dirty="0">
                <a:solidFill>
                  <a:srgbClr val="FF0000"/>
                </a:solidFill>
              </a:rPr>
              <a:t>]</a:t>
            </a:r>
            <a:r>
              <a:rPr lang="en-AU" sz="1500" i="1" dirty="0">
                <a:solidFill>
                  <a:srgbClr val="FF0000"/>
                </a:solidFill>
              </a:rPr>
              <a:t> </a:t>
            </a:r>
          </a:p>
          <a:p>
            <a:endParaRPr lang="en-US" dirty="0"/>
          </a:p>
        </p:txBody>
      </p:sp>
    </p:spTree>
    <p:extLst>
      <p:ext uri="{BB962C8B-B14F-4D97-AF65-F5344CB8AC3E}">
        <p14:creationId xmlns:p14="http://schemas.microsoft.com/office/powerpoint/2010/main" val="1845625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2139702"/>
            <a:ext cx="8229600" cy="857250"/>
          </a:xfrm>
        </p:spPr>
        <p:txBody>
          <a:bodyPr/>
          <a:lstStyle/>
          <a:p>
            <a:r>
              <a:rPr lang="en-AU" b="1" dirty="0"/>
              <a:t>2. Business plan and models</a:t>
            </a:r>
            <a:endParaRPr lang="en-US" b="1" dirty="0"/>
          </a:p>
        </p:txBody>
      </p:sp>
    </p:spTree>
    <p:extLst>
      <p:ext uri="{BB962C8B-B14F-4D97-AF65-F5344CB8AC3E}">
        <p14:creationId xmlns:p14="http://schemas.microsoft.com/office/powerpoint/2010/main" val="418935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0151"/>
            <a:ext cx="8358808" cy="3394472"/>
          </a:xfrm>
        </p:spPr>
        <p:txBody>
          <a:bodyPr>
            <a:normAutofit fontScale="92500"/>
          </a:bodyPr>
          <a:lstStyle/>
          <a:p>
            <a:pPr lvl="1"/>
            <a:r>
              <a:rPr lang="en-AU" sz="1600" i="1" dirty="0">
                <a:solidFill>
                  <a:srgbClr val="FF0000"/>
                </a:solidFill>
              </a:rPr>
              <a:t>Economic value will be generated from wealth creation of customers who invested and have capital gains in digital currencies, tokens, or utility coins. </a:t>
            </a:r>
          </a:p>
          <a:p>
            <a:pPr lvl="1"/>
            <a:r>
              <a:rPr lang="en-AU" sz="1600" i="1" dirty="0">
                <a:solidFill>
                  <a:srgbClr val="FF0000"/>
                </a:solidFill>
              </a:rPr>
              <a:t>The strength of the company is the technology platform which is used and tested by millions of users.</a:t>
            </a:r>
          </a:p>
          <a:p>
            <a:pPr lvl="1"/>
            <a:r>
              <a:rPr lang="en-AU" sz="1600" i="1" dirty="0">
                <a:solidFill>
                  <a:srgbClr val="FF0000"/>
                </a:solidFill>
              </a:rPr>
              <a:t>The company will also provide low fees compared to existing players in the Thai market.</a:t>
            </a:r>
          </a:p>
          <a:p>
            <a:pPr lvl="1"/>
            <a:r>
              <a:rPr lang="en-AU" sz="1600" i="1" dirty="0">
                <a:solidFill>
                  <a:srgbClr val="FF0000"/>
                </a:solidFill>
              </a:rPr>
              <a:t>The company can will expand services to fit customer needs which may be similar to equities market. For example margin lending, private wealth, custodian, etc. </a:t>
            </a:r>
          </a:p>
          <a:p>
            <a:r>
              <a:rPr lang="en-AU" dirty="0"/>
              <a:t>Product/service features</a:t>
            </a:r>
          </a:p>
          <a:p>
            <a:pPr lvl="1"/>
            <a:r>
              <a:rPr lang="en-US" sz="1600" i="1" dirty="0">
                <a:solidFill>
                  <a:srgbClr val="FF0000"/>
                </a:solidFill>
              </a:rPr>
              <a:t>Customer Journey: Registration (Email/SMS)——&gt;log in——&gt;complete KYC(optional by Client)——&gt;deposit fiat ( optional by Client) ——&gt;deposit crypto currency—&gt;trade</a:t>
            </a:r>
          </a:p>
          <a:p>
            <a:pPr lvl="1"/>
            <a:r>
              <a:rPr lang="en-AU" sz="1600" i="1" dirty="0">
                <a:solidFill>
                  <a:srgbClr val="FF0000"/>
                </a:solidFill>
              </a:rPr>
              <a:t>Target Group of </a:t>
            </a:r>
            <a:r>
              <a:rPr lang="en-AU" sz="1600" i="1" dirty="0" err="1">
                <a:solidFill>
                  <a:srgbClr val="FF0000"/>
                </a:solidFill>
              </a:rPr>
              <a:t>Cusomters</a:t>
            </a:r>
            <a:r>
              <a:rPr lang="en-AU" sz="1600" i="1" dirty="0">
                <a:solidFill>
                  <a:srgbClr val="FF0000"/>
                </a:solidFill>
              </a:rPr>
              <a:t>: Retail investors and High Net Worth. </a:t>
            </a:r>
          </a:p>
          <a:p>
            <a:pPr lvl="1"/>
            <a:r>
              <a:rPr lang="en-AU" sz="1600" i="1" dirty="0">
                <a:solidFill>
                  <a:srgbClr val="FF0000"/>
                </a:solidFill>
              </a:rPr>
              <a:t>[Please also consider preparing a high level on-boarding process (if any)] </a:t>
            </a:r>
          </a:p>
        </p:txBody>
      </p:sp>
      <p:sp>
        <p:nvSpPr>
          <p:cNvPr id="4" name="Title 3"/>
          <p:cNvSpPr>
            <a:spLocks noGrp="1"/>
          </p:cNvSpPr>
          <p:nvPr>
            <p:ph type="title"/>
          </p:nvPr>
        </p:nvSpPr>
        <p:spPr/>
        <p:txBody>
          <a:bodyPr>
            <a:normAutofit/>
          </a:bodyPr>
          <a:lstStyle/>
          <a:p>
            <a:pPr algn="l"/>
            <a:r>
              <a:rPr lang="en-AU" b="1" dirty="0"/>
              <a:t>Business Plan</a:t>
            </a:r>
            <a:endParaRPr lang="en-US" b="1" dirty="0"/>
          </a:p>
        </p:txBody>
      </p:sp>
    </p:spTree>
    <p:extLst>
      <p:ext uri="{BB962C8B-B14F-4D97-AF65-F5344CB8AC3E}">
        <p14:creationId xmlns:p14="http://schemas.microsoft.com/office/powerpoint/2010/main" val="3450982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47E6-03A8-4E10-8008-B83FE6DFBFED}"/>
              </a:ext>
            </a:extLst>
          </p:cNvPr>
          <p:cNvSpPr>
            <a:spLocks noGrp="1"/>
          </p:cNvSpPr>
          <p:nvPr>
            <p:ph type="title"/>
          </p:nvPr>
        </p:nvSpPr>
        <p:spPr>
          <a:xfrm>
            <a:off x="1259632" y="646060"/>
            <a:ext cx="1666528" cy="421555"/>
          </a:xfrm>
        </p:spPr>
        <p:txBody>
          <a:bodyPr>
            <a:normAutofit fontScale="90000"/>
          </a:bodyPr>
          <a:lstStyle/>
          <a:p>
            <a:r>
              <a:rPr lang="en-US" dirty="0"/>
              <a:t>KYC</a:t>
            </a:r>
          </a:p>
        </p:txBody>
      </p:sp>
      <p:sp>
        <p:nvSpPr>
          <p:cNvPr id="3" name="Content Placeholder 2">
            <a:extLst>
              <a:ext uri="{FF2B5EF4-FFF2-40B4-BE49-F238E27FC236}">
                <a16:creationId xmlns:a16="http://schemas.microsoft.com/office/drawing/2014/main" id="{F9F4D0EE-93C3-4D69-8612-D3B6CE85875F}"/>
              </a:ext>
            </a:extLst>
          </p:cNvPr>
          <p:cNvSpPr>
            <a:spLocks noGrp="1"/>
          </p:cNvSpPr>
          <p:nvPr>
            <p:ph idx="1"/>
          </p:nvPr>
        </p:nvSpPr>
        <p:spPr>
          <a:xfrm>
            <a:off x="323528" y="3762756"/>
            <a:ext cx="8229600" cy="1295244"/>
          </a:xfrm>
        </p:spPr>
        <p:txBody>
          <a:bodyPr>
            <a:normAutofit fontScale="55000" lnSpcReduction="20000"/>
          </a:bodyPr>
          <a:lstStyle/>
          <a:p>
            <a:r>
              <a:rPr lang="en-US" dirty="0"/>
              <a:t>3. Security process</a:t>
            </a:r>
          </a:p>
          <a:p>
            <a:endParaRPr lang="en-US" dirty="0"/>
          </a:p>
          <a:p>
            <a:r>
              <a:rPr lang="en-US" dirty="0"/>
              <a:t>(1)	captcha test： Completely Automated Public Turing test to tell Computers and Humans Apart"</a:t>
            </a:r>
          </a:p>
          <a:p>
            <a:r>
              <a:rPr lang="en-US" dirty="0"/>
              <a:t>(2)	Google 2F</a:t>
            </a:r>
          </a:p>
          <a:p>
            <a:r>
              <a:rPr lang="en-US" dirty="0"/>
              <a:t>(3)	Anti-Phishing Code (optional)</a:t>
            </a:r>
          </a:p>
          <a:p>
            <a:endParaRPr lang="en-US" dirty="0"/>
          </a:p>
        </p:txBody>
      </p:sp>
      <p:pic>
        <p:nvPicPr>
          <p:cNvPr id="5" name="Picture 4">
            <a:extLst>
              <a:ext uri="{FF2B5EF4-FFF2-40B4-BE49-F238E27FC236}">
                <a16:creationId xmlns:a16="http://schemas.microsoft.com/office/drawing/2014/main" id="{E1743958-5B4E-4BBF-887E-E578EBC4B206}"/>
              </a:ext>
            </a:extLst>
          </p:cNvPr>
          <p:cNvPicPr>
            <a:picLocks noChangeAspect="1"/>
          </p:cNvPicPr>
          <p:nvPr/>
        </p:nvPicPr>
        <p:blipFill>
          <a:blip r:embed="rId2"/>
          <a:stretch>
            <a:fillRect/>
          </a:stretch>
        </p:blipFill>
        <p:spPr>
          <a:xfrm>
            <a:off x="1259632" y="1224041"/>
            <a:ext cx="5929884" cy="2382012"/>
          </a:xfrm>
          <a:prstGeom prst="rect">
            <a:avLst/>
          </a:prstGeom>
        </p:spPr>
      </p:pic>
    </p:spTree>
    <p:extLst>
      <p:ext uri="{BB962C8B-B14F-4D97-AF65-F5344CB8AC3E}">
        <p14:creationId xmlns:p14="http://schemas.microsoft.com/office/powerpoint/2010/main" val="2433617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Data and transaction flow </a:t>
            </a:r>
            <a:endParaRPr lang="en-US" b="1" dirty="0"/>
          </a:p>
        </p:txBody>
      </p:sp>
      <p:sp>
        <p:nvSpPr>
          <p:cNvPr id="3" name="Content Placeholder 2"/>
          <p:cNvSpPr>
            <a:spLocks noGrp="1"/>
          </p:cNvSpPr>
          <p:nvPr>
            <p:ph idx="1"/>
          </p:nvPr>
        </p:nvSpPr>
        <p:spPr/>
        <p:txBody>
          <a:bodyPr/>
          <a:lstStyle/>
          <a:p>
            <a:r>
              <a:rPr lang="en-AU" dirty="0"/>
              <a:t>Data flow of the digital asset brokerage services</a:t>
            </a:r>
          </a:p>
          <a:p>
            <a:pPr lvl="1"/>
            <a:r>
              <a:rPr lang="en-AU" sz="1600" dirty="0">
                <a:solidFill>
                  <a:srgbClr val="FF0000"/>
                </a:solidFill>
              </a:rPr>
              <a:t>[</a:t>
            </a:r>
            <a:r>
              <a:rPr lang="en-AU" sz="1600" i="1" dirty="0">
                <a:solidFill>
                  <a:srgbClr val="FF0000"/>
                </a:solidFill>
              </a:rPr>
              <a:t>Please provide the data flow of the end-to-end brokerage service.</a:t>
            </a:r>
            <a:r>
              <a:rPr lang="en-AU" sz="1600" dirty="0">
                <a:solidFill>
                  <a:srgbClr val="FF0000"/>
                </a:solidFill>
              </a:rPr>
              <a:t>]</a:t>
            </a:r>
          </a:p>
          <a:p>
            <a:r>
              <a:rPr lang="en-AU" dirty="0"/>
              <a:t>Transaction flow of digital asset brokerage services </a:t>
            </a:r>
          </a:p>
          <a:p>
            <a:pPr lvl="1"/>
            <a:r>
              <a:rPr lang="en-AU" sz="1600" dirty="0">
                <a:solidFill>
                  <a:srgbClr val="FF0000"/>
                </a:solidFill>
              </a:rPr>
              <a:t>[</a:t>
            </a:r>
            <a:r>
              <a:rPr lang="en-US" sz="1600" i="1" dirty="0">
                <a:solidFill>
                  <a:srgbClr val="FF0000"/>
                </a:solidFill>
              </a:rPr>
              <a:t>Please provide the transaction flow of the end-to-end brokerage service</a:t>
            </a:r>
            <a:r>
              <a:rPr lang="en-AU" sz="1600" i="1" dirty="0">
                <a:solidFill>
                  <a:srgbClr val="FF0000"/>
                </a:solidFill>
              </a:rPr>
              <a:t>. This include how the company connect with the investor, how the company connect with exchange(s)? Are there any third parties providing the outsourcing service to the company?</a:t>
            </a:r>
            <a:r>
              <a:rPr lang="en-AU" sz="1600" dirty="0">
                <a:solidFill>
                  <a:srgbClr val="FF0000"/>
                </a:solidFill>
              </a:rPr>
              <a:t>]</a:t>
            </a:r>
          </a:p>
          <a:p>
            <a:pPr lvl="1"/>
            <a:endParaRPr lang="en-US" dirty="0"/>
          </a:p>
        </p:txBody>
      </p:sp>
    </p:spTree>
    <p:extLst>
      <p:ext uri="{BB962C8B-B14F-4D97-AF65-F5344CB8AC3E}">
        <p14:creationId xmlns:p14="http://schemas.microsoft.com/office/powerpoint/2010/main" val="244529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2139702"/>
            <a:ext cx="8229600" cy="857250"/>
          </a:xfrm>
        </p:spPr>
        <p:txBody>
          <a:bodyPr/>
          <a:lstStyle/>
          <a:p>
            <a:r>
              <a:rPr lang="en-AU" b="1" dirty="0"/>
              <a:t>3. Business operations and policies</a:t>
            </a:r>
            <a:endParaRPr lang="en-US" b="1" dirty="0"/>
          </a:p>
        </p:txBody>
      </p:sp>
    </p:spTree>
    <p:extLst>
      <p:ext uri="{BB962C8B-B14F-4D97-AF65-F5344CB8AC3E}">
        <p14:creationId xmlns:p14="http://schemas.microsoft.com/office/powerpoint/2010/main" val="1625950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a:t>Digital Asset Brokerage Service</a:t>
            </a:r>
            <a:endParaRPr lang="en-US" b="1" dirty="0"/>
          </a:p>
        </p:txBody>
      </p:sp>
      <p:sp>
        <p:nvSpPr>
          <p:cNvPr id="3" name="Content Placeholder 2"/>
          <p:cNvSpPr>
            <a:spLocks noGrp="1"/>
          </p:cNvSpPr>
          <p:nvPr>
            <p:ph idx="1"/>
          </p:nvPr>
        </p:nvSpPr>
        <p:spPr/>
        <p:txBody>
          <a:bodyPr>
            <a:normAutofit fontScale="92500" lnSpcReduction="10000"/>
          </a:bodyPr>
          <a:lstStyle/>
          <a:p>
            <a:r>
              <a:rPr lang="en-US" dirty="0"/>
              <a:t>Best Execution Process</a:t>
            </a:r>
          </a:p>
          <a:p>
            <a:pPr lvl="1"/>
            <a:r>
              <a:rPr lang="en-US" sz="1300" i="1" dirty="0">
                <a:solidFill>
                  <a:srgbClr val="FF0000"/>
                </a:solidFill>
              </a:rPr>
              <a:t>[Please explain how the company execute the trading order for investor on a “Best Execution” method to ensure that the investor could get the best order offered at such time. This includes the relevant details (e.g. Would the company open the omnibus account with the exchange to reflect the order on the platform? Are there any reserve that the company needs to provide to the exchange to ensure the order could be executed in a timely manner? ]</a:t>
            </a:r>
          </a:p>
          <a:p>
            <a:r>
              <a:rPr lang="en-US" dirty="0"/>
              <a:t>Selection of Digital Exchange Platform </a:t>
            </a:r>
          </a:p>
          <a:p>
            <a:pPr lvl="1"/>
            <a:r>
              <a:rPr lang="en-US" sz="1600" dirty="0">
                <a:solidFill>
                  <a:srgbClr val="FF0000"/>
                </a:solidFill>
              </a:rPr>
              <a:t>[</a:t>
            </a:r>
            <a:r>
              <a:rPr lang="en-US" sz="1600" i="1" dirty="0">
                <a:solidFill>
                  <a:srgbClr val="FF0000"/>
                </a:solidFill>
              </a:rPr>
              <a:t>Please provide the company’s rules/criteria for selecting the partnering exchange. The requirements set under the regulations are provided to you in the summary of relevant requirements. The company may consider adding any criteria to ensure that the partnering exchange is secured and efficient</a:t>
            </a:r>
            <a:r>
              <a:rPr lang="en-US" sz="1600" dirty="0">
                <a:solidFill>
                  <a:srgbClr val="FF0000"/>
                </a:solidFill>
              </a:rPr>
              <a:t>.]</a:t>
            </a:r>
          </a:p>
          <a:p>
            <a:pPr marL="257175" lvl="1" indent="-257175">
              <a:buFont typeface="Arial" pitchFamily="34" charset="0"/>
              <a:buChar char="•"/>
            </a:pPr>
            <a:r>
              <a:rPr lang="en-AU" sz="2400" dirty="0"/>
              <a:t>Selection of Digital Asset</a:t>
            </a:r>
          </a:p>
          <a:p>
            <a:pPr lvl="1"/>
            <a:r>
              <a:rPr lang="en-AU" sz="1600" dirty="0">
                <a:solidFill>
                  <a:srgbClr val="FF0000"/>
                </a:solidFill>
              </a:rPr>
              <a:t>[</a:t>
            </a:r>
            <a:r>
              <a:rPr lang="en-AU" sz="1600" i="1" dirty="0">
                <a:solidFill>
                  <a:srgbClr val="FF0000"/>
                </a:solidFill>
              </a:rPr>
              <a:t>Please provide the company’s </a:t>
            </a:r>
            <a:r>
              <a:rPr lang="en-US" sz="1600" i="1" dirty="0">
                <a:solidFill>
                  <a:srgbClr val="FF0000"/>
                </a:solidFill>
              </a:rPr>
              <a:t>rules/criteria for selecting the digital assets to be made available for the investors</a:t>
            </a:r>
            <a:r>
              <a:rPr lang="en-AU" sz="1600" i="1" dirty="0">
                <a:solidFill>
                  <a:srgbClr val="FF0000"/>
                </a:solidFill>
              </a:rPr>
              <a:t>.</a:t>
            </a:r>
            <a:r>
              <a:rPr lang="en-AU" sz="1600" dirty="0">
                <a:solidFill>
                  <a:srgbClr val="FF0000"/>
                </a:solidFill>
              </a:rPr>
              <a:t>]</a:t>
            </a:r>
            <a:endParaRPr lang="en-US" sz="1600" dirty="0">
              <a:solidFill>
                <a:srgbClr val="FF0000"/>
              </a:solidFill>
            </a:endParaRPr>
          </a:p>
          <a:p>
            <a:pPr marL="0" indent="0">
              <a:buNone/>
            </a:pPr>
            <a:endParaRPr lang="en-US" dirty="0"/>
          </a:p>
          <a:p>
            <a:endParaRPr lang="en-US" dirty="0"/>
          </a:p>
        </p:txBody>
      </p:sp>
    </p:spTree>
    <p:extLst>
      <p:ext uri="{BB962C8B-B14F-4D97-AF65-F5344CB8AC3E}">
        <p14:creationId xmlns:p14="http://schemas.microsoft.com/office/powerpoint/2010/main" val="267861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1400" i="1" dirty="0">
                <a:solidFill>
                  <a:srgbClr val="FF0000"/>
                </a:solidFill>
              </a:rPr>
              <a:t>[Please consider providing the following:</a:t>
            </a:r>
          </a:p>
          <a:p>
            <a:pPr lvl="1"/>
            <a:r>
              <a:rPr lang="en-US" sz="1400" i="1" dirty="0">
                <a:solidFill>
                  <a:srgbClr val="FF0000"/>
                </a:solidFill>
              </a:rPr>
              <a:t>The intended policy, measure, and guideline for outsourcing to third parties;</a:t>
            </a:r>
          </a:p>
          <a:p>
            <a:pPr lvl="1"/>
            <a:r>
              <a:rPr lang="en-US" sz="1400" i="1" dirty="0">
                <a:solidFill>
                  <a:srgbClr val="FF0000"/>
                </a:solidFill>
              </a:rPr>
              <a:t>The intended third parties that would be providing the outsourcing service to the company; and</a:t>
            </a:r>
          </a:p>
          <a:p>
            <a:pPr lvl="1"/>
            <a:r>
              <a:rPr lang="en-US" sz="1400" i="1" dirty="0">
                <a:solidFill>
                  <a:srgbClr val="FF0000"/>
                </a:solidFill>
              </a:rPr>
              <a:t>The intended services to be outsourced by third parties.</a:t>
            </a:r>
          </a:p>
          <a:p>
            <a:pPr lvl="1"/>
            <a:r>
              <a:rPr lang="en-US" sz="1400" i="1" dirty="0">
                <a:solidFill>
                  <a:srgbClr val="FF0000"/>
                </a:solidFill>
              </a:rPr>
              <a:t>This must ensure compliance with relevant regulations and requirements.]</a:t>
            </a:r>
          </a:p>
          <a:p>
            <a:pPr lvl="1"/>
            <a:endParaRPr lang="th-TH" sz="1400" i="1" dirty="0">
              <a:solidFill>
                <a:srgbClr val="FF0000"/>
              </a:solidFill>
            </a:endParaRPr>
          </a:p>
          <a:p>
            <a:pPr lvl="1"/>
            <a:endParaRPr lang="en-US" sz="1400" i="1" dirty="0">
              <a:solidFill>
                <a:srgbClr val="FF0000"/>
              </a:solidFill>
            </a:endParaRPr>
          </a:p>
          <a:p>
            <a:pPr marL="0" indent="0">
              <a:buNone/>
            </a:pPr>
            <a:endParaRPr lang="en-US" dirty="0"/>
          </a:p>
        </p:txBody>
      </p:sp>
      <p:sp>
        <p:nvSpPr>
          <p:cNvPr id="4" name="Title 1"/>
          <p:cNvSpPr>
            <a:spLocks noGrp="1"/>
          </p:cNvSpPr>
          <p:nvPr>
            <p:ph type="title"/>
          </p:nvPr>
        </p:nvSpPr>
        <p:spPr/>
        <p:txBody>
          <a:bodyPr>
            <a:normAutofit/>
          </a:bodyPr>
          <a:lstStyle/>
          <a:p>
            <a:pPr algn="l"/>
            <a:r>
              <a:rPr lang="en-US" b="1" dirty="0"/>
              <a:t>Outsourcing to third parties</a:t>
            </a:r>
          </a:p>
        </p:txBody>
      </p:sp>
    </p:spTree>
    <p:extLst>
      <p:ext uri="{BB962C8B-B14F-4D97-AF65-F5344CB8AC3E}">
        <p14:creationId xmlns:p14="http://schemas.microsoft.com/office/powerpoint/2010/main" val="4154088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a:t>Asset Safekeeping</a:t>
            </a:r>
          </a:p>
        </p:txBody>
      </p:sp>
      <p:sp>
        <p:nvSpPr>
          <p:cNvPr id="3" name="Content Placeholder 2"/>
          <p:cNvSpPr>
            <a:spLocks noGrp="1"/>
          </p:cNvSpPr>
          <p:nvPr>
            <p:ph idx="1"/>
          </p:nvPr>
        </p:nvSpPr>
        <p:spPr/>
        <p:txBody>
          <a:bodyPr/>
          <a:lstStyle/>
          <a:p>
            <a:r>
              <a:rPr lang="en-US" sz="1400" i="1" dirty="0">
                <a:solidFill>
                  <a:srgbClr val="FF0000"/>
                </a:solidFill>
              </a:rPr>
              <a:t>[Please consider providing the following:</a:t>
            </a:r>
          </a:p>
          <a:p>
            <a:pPr lvl="1"/>
            <a:r>
              <a:rPr lang="en-US" sz="1400" i="1" dirty="0">
                <a:solidFill>
                  <a:srgbClr val="FF0000"/>
                </a:solidFill>
              </a:rPr>
              <a:t>The method and process for (</a:t>
            </a:r>
            <a:r>
              <a:rPr lang="en-US" sz="1400" i="1" dirty="0" err="1">
                <a:solidFill>
                  <a:srgbClr val="FF0000"/>
                </a:solidFill>
              </a:rPr>
              <a:t>i</a:t>
            </a:r>
            <a:r>
              <a:rPr lang="en-US" sz="1400" i="1" dirty="0">
                <a:solidFill>
                  <a:srgbClr val="FF0000"/>
                </a:solidFill>
              </a:rPr>
              <a:t>) fiat and (ii) digital asset keeping; </a:t>
            </a:r>
          </a:p>
          <a:p>
            <a:pPr lvl="1"/>
            <a:r>
              <a:rPr lang="en-US" sz="1400" i="1" dirty="0">
                <a:solidFill>
                  <a:srgbClr val="FF0000"/>
                </a:solidFill>
              </a:rPr>
              <a:t>The criteria in selecting a third-party digital asset custodian;</a:t>
            </a:r>
          </a:p>
          <a:p>
            <a:pPr lvl="1"/>
            <a:r>
              <a:rPr lang="en-US" sz="1400" i="1" dirty="0">
                <a:solidFill>
                  <a:srgbClr val="FF0000"/>
                </a:solidFill>
              </a:rPr>
              <a:t>The intended third-party custodian that the company intends to use;</a:t>
            </a:r>
          </a:p>
          <a:p>
            <a:pPr lvl="1"/>
            <a:r>
              <a:rPr lang="en-US" sz="1400" i="1" dirty="0">
                <a:solidFill>
                  <a:srgbClr val="FF0000"/>
                </a:solidFill>
              </a:rPr>
              <a:t>The custody plan regarding to the company holding one key and still requiring two out of three keys.</a:t>
            </a:r>
          </a:p>
          <a:p>
            <a:pPr marL="342900" lvl="1" indent="0">
              <a:buNone/>
            </a:pPr>
            <a:r>
              <a:rPr lang="en-US" sz="1400" i="1" dirty="0">
                <a:solidFill>
                  <a:srgbClr val="FF0000"/>
                </a:solidFill>
              </a:rPr>
              <a:t>This must ensure compliance with relevant regulations and requirements.]</a:t>
            </a:r>
          </a:p>
          <a:p>
            <a:endParaRPr lang="en-US" dirty="0"/>
          </a:p>
        </p:txBody>
      </p:sp>
    </p:spTree>
    <p:extLst>
      <p:ext uri="{BB962C8B-B14F-4D97-AF65-F5344CB8AC3E}">
        <p14:creationId xmlns:p14="http://schemas.microsoft.com/office/powerpoint/2010/main" val="726830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IT systems and IT risk management</a:t>
            </a:r>
            <a:endParaRPr lang="en-US" b="1" dirty="0"/>
          </a:p>
        </p:txBody>
      </p:sp>
      <p:sp>
        <p:nvSpPr>
          <p:cNvPr id="3" name="Content Placeholder 2"/>
          <p:cNvSpPr>
            <a:spLocks noGrp="1"/>
          </p:cNvSpPr>
          <p:nvPr>
            <p:ph idx="1"/>
          </p:nvPr>
        </p:nvSpPr>
        <p:spPr/>
        <p:txBody>
          <a:bodyPr>
            <a:normAutofit/>
          </a:bodyPr>
          <a:lstStyle/>
          <a:p>
            <a:r>
              <a:rPr lang="en-US" dirty="0">
                <a:solidFill>
                  <a:srgbClr val="FF0000"/>
                </a:solidFill>
              </a:rPr>
              <a:t>[</a:t>
            </a:r>
            <a:r>
              <a:rPr lang="en-US" i="1" dirty="0">
                <a:solidFill>
                  <a:srgbClr val="FF0000"/>
                </a:solidFill>
              </a:rPr>
              <a:t>Please consider providing the following:</a:t>
            </a:r>
          </a:p>
          <a:p>
            <a:pPr lvl="1"/>
            <a:r>
              <a:rPr lang="en-AU" sz="2000" i="1" dirty="0">
                <a:solidFill>
                  <a:srgbClr val="FF0000"/>
                </a:solidFill>
              </a:rPr>
              <a:t>The key information on IT system used in providing the services.</a:t>
            </a:r>
          </a:p>
          <a:p>
            <a:pPr lvl="1"/>
            <a:r>
              <a:rPr lang="en-AU" sz="2000" i="1" dirty="0">
                <a:solidFill>
                  <a:srgbClr val="FF0000"/>
                </a:solidFill>
              </a:rPr>
              <a:t>IT security policies/measures</a:t>
            </a:r>
          </a:p>
          <a:p>
            <a:pPr lvl="2"/>
            <a:r>
              <a:rPr lang="en-US" i="1" dirty="0">
                <a:solidFill>
                  <a:srgbClr val="FF0000"/>
                </a:solidFill>
              </a:rPr>
              <a:t>Systems and measure to ensure the availability and continuity of the services.</a:t>
            </a:r>
            <a:r>
              <a:rPr lang="en-US" dirty="0">
                <a:solidFill>
                  <a:srgbClr val="FF0000"/>
                </a:solidFill>
              </a:rPr>
              <a:t>] </a:t>
            </a:r>
          </a:p>
        </p:txBody>
      </p:sp>
    </p:spTree>
    <p:extLst>
      <p:ext uri="{BB962C8B-B14F-4D97-AF65-F5344CB8AC3E}">
        <p14:creationId xmlns:p14="http://schemas.microsoft.com/office/powerpoint/2010/main" val="3902796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Risk Management</a:t>
            </a:r>
            <a:endParaRPr lang="en-US" b="1" dirty="0"/>
          </a:p>
        </p:txBody>
      </p:sp>
      <p:sp>
        <p:nvSpPr>
          <p:cNvPr id="3" name="Content Placeholder 2"/>
          <p:cNvSpPr>
            <a:spLocks noGrp="1"/>
          </p:cNvSpPr>
          <p:nvPr>
            <p:ph idx="1"/>
          </p:nvPr>
        </p:nvSpPr>
        <p:spPr/>
        <p:txBody>
          <a:bodyPr>
            <a:normAutofit/>
          </a:bodyPr>
          <a:lstStyle/>
          <a:p>
            <a:r>
              <a:rPr lang="en-AU" sz="1900" dirty="0"/>
              <a:t>Risk management and risk assessment </a:t>
            </a:r>
          </a:p>
          <a:p>
            <a:pPr lvl="1"/>
            <a:r>
              <a:rPr lang="en-AU" sz="1600" dirty="0">
                <a:solidFill>
                  <a:srgbClr val="FF0000"/>
                </a:solidFill>
              </a:rPr>
              <a:t>[</a:t>
            </a:r>
            <a:r>
              <a:rPr lang="en-AU" sz="1600" i="1" dirty="0">
                <a:solidFill>
                  <a:srgbClr val="FF0000"/>
                </a:solidFill>
              </a:rPr>
              <a:t>Please consider providing a high-level explanation of risk management, risk management procedures, responsible department, authorized person for approval, period for review of risk, method for risk assessment, risk appetite covering all the important aspects (i.e. business risk, IT and cyber risk, operational risk, financial risk, market risk, anti-money laundering, legal and compliance risk.</a:t>
            </a:r>
            <a:r>
              <a:rPr lang="en-AU" sz="1600" dirty="0">
                <a:solidFill>
                  <a:srgbClr val="FF0000"/>
                </a:solidFill>
              </a:rPr>
              <a:t>] </a:t>
            </a:r>
            <a:endParaRPr lang="en-AU" sz="1300" dirty="0">
              <a:solidFill>
                <a:srgbClr val="FF0000"/>
              </a:solidFill>
            </a:endParaRPr>
          </a:p>
          <a:p>
            <a:r>
              <a:rPr lang="en-AU" sz="1900" dirty="0"/>
              <a:t>Risk monitoring and review</a:t>
            </a:r>
          </a:p>
          <a:p>
            <a:r>
              <a:rPr lang="en-US" sz="1900" dirty="0"/>
              <a:t>Business Continuity Management (</a:t>
            </a:r>
            <a:r>
              <a:rPr lang="en-US" sz="1900" dirty="0" err="1"/>
              <a:t>BCM</a:t>
            </a:r>
            <a:r>
              <a:rPr lang="en-US" sz="1900" dirty="0"/>
              <a:t>)</a:t>
            </a:r>
            <a:endParaRPr lang="en-AU" sz="1900" dirty="0"/>
          </a:p>
          <a:p>
            <a:pPr lvl="1"/>
            <a:r>
              <a:rPr lang="en-AU" sz="1600" dirty="0">
                <a:solidFill>
                  <a:srgbClr val="FF0000"/>
                </a:solidFill>
              </a:rPr>
              <a:t>[</a:t>
            </a:r>
            <a:r>
              <a:rPr lang="en-US" sz="1600" i="1" dirty="0">
                <a:solidFill>
                  <a:srgbClr val="FF0000"/>
                </a:solidFill>
              </a:rPr>
              <a:t>Please consider providing a </a:t>
            </a:r>
            <a:r>
              <a:rPr lang="en-AU" sz="1600" i="1" dirty="0">
                <a:solidFill>
                  <a:srgbClr val="FF0000"/>
                </a:solidFill>
              </a:rPr>
              <a:t>summary of business continuity</a:t>
            </a:r>
            <a:r>
              <a:rPr lang="en-US" sz="1600" i="1" dirty="0">
                <a:solidFill>
                  <a:srgbClr val="FF0000"/>
                </a:solidFill>
              </a:rPr>
              <a:t> management</a:t>
            </a:r>
            <a:r>
              <a:rPr lang="en-AU" sz="1600" i="1" dirty="0">
                <a:solidFill>
                  <a:srgbClr val="FF0000"/>
                </a:solidFill>
              </a:rPr>
              <a:t> policy, business continuity plan, disaster recovery plan covering critical business function.</a:t>
            </a:r>
            <a:r>
              <a:rPr lang="en-AU" sz="1600" dirty="0">
                <a:solidFill>
                  <a:srgbClr val="FF0000"/>
                </a:solidFill>
              </a:rPr>
              <a:t>] </a:t>
            </a:r>
          </a:p>
          <a:p>
            <a:endParaRPr lang="en-AU" sz="1900" dirty="0"/>
          </a:p>
          <a:p>
            <a:pPr marL="0" indent="0">
              <a:buNone/>
            </a:pPr>
            <a:endParaRPr lang="en-US" sz="1900" dirty="0"/>
          </a:p>
        </p:txBody>
      </p:sp>
    </p:spTree>
    <p:extLst>
      <p:ext uri="{BB962C8B-B14F-4D97-AF65-F5344CB8AC3E}">
        <p14:creationId xmlns:p14="http://schemas.microsoft.com/office/powerpoint/2010/main" val="401760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9552" y="2139702"/>
            <a:ext cx="8229600" cy="857250"/>
          </a:xfrm>
        </p:spPr>
        <p:txBody>
          <a:bodyPr/>
          <a:lstStyle/>
          <a:p>
            <a:r>
              <a:rPr lang="en-AU" b="1" dirty="0"/>
              <a:t>Questions and answers</a:t>
            </a:r>
            <a:endParaRPr lang="en-US" b="1" dirty="0"/>
          </a:p>
        </p:txBody>
      </p:sp>
    </p:spTree>
    <p:extLst>
      <p:ext uri="{BB962C8B-B14F-4D97-AF65-F5344CB8AC3E}">
        <p14:creationId xmlns:p14="http://schemas.microsoft.com/office/powerpoint/2010/main" val="2021739597"/>
      </p:ext>
    </p:extLst>
  </p:cSld>
  <p:clrMapOvr>
    <a:masterClrMapping/>
  </p:clrMapOvr>
</p:sld>
</file>

<file path=ppt/theme/theme1.xml><?xml version="1.0" encoding="utf-8"?>
<a:theme xmlns:a="http://schemas.openxmlformats.org/drawingml/2006/main" name="BM Presentation Template">
  <a:themeElements>
    <a:clrScheme name="B&amp;M">
      <a:dk1>
        <a:srgbClr val="000000"/>
      </a:dk1>
      <a:lt1>
        <a:srgbClr val="FFFFFF"/>
      </a:lt1>
      <a:dk2>
        <a:srgbClr val="5F5F5F"/>
      </a:dk2>
      <a:lt2>
        <a:srgbClr val="C2C3C4"/>
      </a:lt2>
      <a:accent1>
        <a:srgbClr val="EE3135"/>
      </a:accent1>
      <a:accent2>
        <a:srgbClr val="AE132A"/>
      </a:accent2>
      <a:accent3>
        <a:srgbClr val="7A0223"/>
      </a:accent3>
      <a:accent4>
        <a:srgbClr val="002856"/>
      </a:accent4>
      <a:accent5>
        <a:srgbClr val="F58220"/>
      </a:accent5>
      <a:accent6>
        <a:srgbClr val="007B66"/>
      </a:accent6>
      <a:hlink>
        <a:srgbClr val="0000FF"/>
      </a:hlink>
      <a:folHlink>
        <a:srgbClr val="800080"/>
      </a:folHlink>
    </a:clrScheme>
    <a:fontScheme name="B&amp;M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E3135"/>
        </a:solidFill>
        <a:ln w="12700">
          <a:solidFill>
            <a:srgbClr val="EE3135"/>
          </a:solidFill>
        </a:ln>
      </a:spPr>
      <a:bodyPr rtlCol="0" anchor="ctr"/>
      <a:lstStyle>
        <a:defPPr algn="ctr">
          <a:defRPr baseline="0" smtClean="0"/>
        </a:defPPr>
      </a:lstStyle>
      <a:style>
        <a:lnRef idx="2">
          <a:schemeClr val="accent1">
            <a:shade val="50000"/>
          </a:schemeClr>
        </a:lnRef>
        <a:fillRef idx="1">
          <a:schemeClr val="accent1"/>
        </a:fillRef>
        <a:effectRef idx="0">
          <a:schemeClr val="accent1"/>
        </a:effectRef>
        <a:fontRef idx="minor">
          <a:schemeClr val="lt1"/>
        </a:fontRef>
      </a:style>
    </a:spDef>
    <a:lnDef>
      <a:spPr>
        <a:ln w="15875">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Firm Presentation (updated).pptx" id="{FE2B21A5-42C9-417D-A539-D2F28F8B6478}" vid="{9063D361-376E-4CDC-930A-01A84B3D10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B&amp;M</Template>
  <TotalTime>42</TotalTime>
  <Words>1251</Words>
  <Application>Microsoft Office PowerPoint</Application>
  <PresentationFormat>On-screen Show (16:9)</PresentationFormat>
  <Paragraphs>100</Paragraphs>
  <Slides>19</Slides>
  <Notes>11</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BM Presentation Template</vt:lpstr>
      <vt:lpstr>Business Plan for the digital asset brokerage business Brooker Planner Co., Ltd.?</vt:lpstr>
      <vt:lpstr>Agenda and objectives</vt:lpstr>
      <vt:lpstr>1. Overview of the company profile </vt:lpstr>
      <vt:lpstr>PowerPoint Presentation</vt:lpstr>
      <vt:lpstr>Introduction</vt:lpstr>
      <vt:lpstr>Shareholding structure </vt:lpstr>
      <vt:lpstr>Organizational structure</vt:lpstr>
      <vt:lpstr>Management/key officer’s work experience</vt:lpstr>
      <vt:lpstr>2. Business plan and models</vt:lpstr>
      <vt:lpstr>Business Plan</vt:lpstr>
      <vt:lpstr>KYC</vt:lpstr>
      <vt:lpstr>Data and transaction flow </vt:lpstr>
      <vt:lpstr>3. Business operations and policies</vt:lpstr>
      <vt:lpstr>Digital Asset Brokerage Service</vt:lpstr>
      <vt:lpstr>Outsourcing to third parties</vt:lpstr>
      <vt:lpstr>Asset Safekeeping</vt:lpstr>
      <vt:lpstr>IT systems and IT risk management</vt:lpstr>
      <vt:lpstr>Risk Management</vt:lpstr>
      <vt:lpstr>Questions and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MacroView</dc:creator>
  <cp:lastModifiedBy>Varut Bulakul</cp:lastModifiedBy>
  <cp:revision>117</cp:revision>
  <dcterms:created xsi:type="dcterms:W3CDTF">2011-12-22T00:30:27Z</dcterms:created>
  <dcterms:modified xsi:type="dcterms:W3CDTF">2021-12-14T16:30:51Z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lobalTemplate">
    <vt:bool>true</vt:bool>
  </property>
  <property fmtid="{D5CDD505-2E9C-101B-9397-08002B2CF9AE}" pid="3" name="OfficeIni">
    <vt:lpwstr>Bangkok - Baker &amp; McKenzie Ltd - ENGLISH.ini</vt:lpwstr>
  </property>
  <property fmtid="{D5CDD505-2E9C-101B-9397-08002B2CF9AE}" pid="4" name="eDOCS AutoSave">
    <vt:lpwstr/>
  </property>
</Properties>
</file>